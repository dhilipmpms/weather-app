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2920" y="222480"/>
            <a:ext cx="9065160" cy="942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2920" y="1324080"/>
            <a:ext cx="9065160" cy="3282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A89CE77-9024-4FCF-87BA-E1E01FD6116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2920" y="222480"/>
            <a:ext cx="9065160" cy="942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type="subTitle"/>
          </p:nvPr>
        </p:nvSpPr>
        <p:spPr>
          <a:xfrm>
            <a:off x="502920" y="1324080"/>
            <a:ext cx="9065160" cy="32828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DDBF410A-204A-41D8-8161-9CECCFEE5355}" type="slidenum">
              <a:t>&lt;#&gt;</a:t>
            </a:fld>
          </a:p>
        </p:txBody>
      </p:sp>
      <p:sp>
        <p:nvSpPr>
          <p:cNvPr id="6" name="PlaceHolder 5"/>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2920" y="222480"/>
            <a:ext cx="9065160" cy="942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502920" y="1324080"/>
            <a:ext cx="9065160" cy="32828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3446280" y="5159520"/>
            <a:ext cx="3189600" cy="38628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7225200" y="5159520"/>
            <a:ext cx="2343960" cy="38628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7B54FB7F-2B87-4628-A117-CDA67115EC4B}"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4" name="PlaceHolder 5"/>
          <p:cNvSpPr>
            <a:spLocks noGrp="1"/>
          </p:cNvSpPr>
          <p:nvPr>
            <p:ph type="dt" idx="3"/>
          </p:nvPr>
        </p:nvSpPr>
        <p:spPr>
          <a:xfrm>
            <a:off x="502920" y="5159520"/>
            <a:ext cx="2343960" cy="3862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2920" y="222480"/>
            <a:ext cx="9065160" cy="942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ftr" idx="4"/>
          </p:nvPr>
        </p:nvSpPr>
        <p:spPr>
          <a:xfrm>
            <a:off x="3446280" y="5159520"/>
            <a:ext cx="3189600" cy="38628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9" name="PlaceHolder 3"/>
          <p:cNvSpPr>
            <a:spLocks noGrp="1"/>
          </p:cNvSpPr>
          <p:nvPr>
            <p:ph type="sldNum" idx="5"/>
          </p:nvPr>
        </p:nvSpPr>
        <p:spPr>
          <a:xfrm>
            <a:off x="7225200" y="5159520"/>
            <a:ext cx="2343960" cy="38628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93F3DAB7-11B5-4542-B947-006620537E90}"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10" name="PlaceHolder 4"/>
          <p:cNvSpPr>
            <a:spLocks noGrp="1"/>
          </p:cNvSpPr>
          <p:nvPr>
            <p:ph type="dt" idx="6"/>
          </p:nvPr>
        </p:nvSpPr>
        <p:spPr>
          <a:xfrm>
            <a:off x="502920" y="5159520"/>
            <a:ext cx="2343960" cy="3862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Box 7"/>
          <p:cNvSpPr/>
          <p:nvPr/>
        </p:nvSpPr>
        <p:spPr>
          <a:xfrm>
            <a:off x="606600" y="1693800"/>
            <a:ext cx="8857800" cy="82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400" spc="-1" strike="noStrike">
                <a:solidFill>
                  <a:srgbClr val="123a8c"/>
                </a:solidFill>
                <a:latin typeface="Times New Roman"/>
                <a:ea typeface="Tahoma"/>
              </a:rPr>
              <a:t>FACULTY OF SCIENCE</a:t>
            </a:r>
            <a:endParaRPr b="0" lang="en-US" sz="2400" spc="-1" strike="noStrike">
              <a:solidFill>
                <a:srgbClr val="000000"/>
              </a:solidFill>
              <a:latin typeface="Arial"/>
            </a:endParaRPr>
          </a:p>
          <a:p>
            <a:pPr algn="ctr" defTabSz="457200">
              <a:lnSpc>
                <a:spcPct val="100000"/>
              </a:lnSpc>
            </a:pPr>
            <a:r>
              <a:rPr b="1" lang="en-US" sz="2400" spc="-1" strike="noStrike">
                <a:solidFill>
                  <a:srgbClr val="123a8c"/>
                </a:solidFill>
                <a:latin typeface="Times New Roman"/>
                <a:ea typeface="Tahoma"/>
              </a:rPr>
              <a:t>DEPARTMENT OF COMPUTER &amp; INFORMATION SCIENCE</a:t>
            </a:r>
            <a:endParaRPr b="0" lang="en-US" sz="2400" spc="-1" strike="noStrike">
              <a:solidFill>
                <a:srgbClr val="000000"/>
              </a:solidFill>
              <a:latin typeface="Arial"/>
            </a:endParaRPr>
          </a:p>
        </p:txBody>
      </p:sp>
      <p:sp>
        <p:nvSpPr>
          <p:cNvPr id="15" name="TextBox 9"/>
          <p:cNvSpPr/>
          <p:nvPr/>
        </p:nvSpPr>
        <p:spPr>
          <a:xfrm>
            <a:off x="606600" y="2859840"/>
            <a:ext cx="8857800" cy="45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rgbClr val="ff0000"/>
                </a:solidFill>
                <a:highlight>
                  <a:srgbClr val="ffffff"/>
                </a:highlight>
                <a:latin typeface="DejaVu Serif Condensed"/>
                <a:ea typeface="DejaVu Sans"/>
              </a:rPr>
              <a:t>Weather Forecasting Application Using API</a:t>
            </a:r>
            <a:endParaRPr b="0" lang="en-US" sz="2400" spc="-1" strike="noStrike">
              <a:solidFill>
                <a:srgbClr val="000000"/>
              </a:solidFill>
              <a:latin typeface="Arial"/>
            </a:endParaRPr>
          </a:p>
        </p:txBody>
      </p:sp>
      <p:grpSp>
        <p:nvGrpSpPr>
          <p:cNvPr id="16" name="Group 15"/>
          <p:cNvGrpSpPr/>
          <p:nvPr/>
        </p:nvGrpSpPr>
        <p:grpSpPr>
          <a:xfrm>
            <a:off x="5622120" y="4278600"/>
            <a:ext cx="4222080" cy="1193400"/>
            <a:chOff x="5622120" y="4278600"/>
            <a:chExt cx="4222080" cy="1193400"/>
          </a:xfrm>
        </p:grpSpPr>
        <p:sp>
          <p:nvSpPr>
            <p:cNvPr id="17" name="TextBox 15"/>
            <p:cNvSpPr/>
            <p:nvPr/>
          </p:nvSpPr>
          <p:spPr>
            <a:xfrm>
              <a:off x="5622120" y="4278600"/>
              <a:ext cx="19731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000000"/>
                  </a:solidFill>
                  <a:latin typeface="Tw Cen MT"/>
                  <a:ea typeface="DejaVu Sans"/>
                </a:rPr>
                <a:t>PRESENTED BY:</a:t>
              </a:r>
              <a:endParaRPr b="0" lang="en-US" sz="1800" spc="-1" strike="noStrike">
                <a:solidFill>
                  <a:srgbClr val="000000"/>
                </a:solidFill>
                <a:latin typeface="Arial"/>
              </a:endParaRPr>
            </a:p>
          </p:txBody>
        </p:sp>
        <p:sp>
          <p:nvSpPr>
            <p:cNvPr id="18" name="TextBox 17"/>
            <p:cNvSpPr/>
            <p:nvPr/>
          </p:nvSpPr>
          <p:spPr>
            <a:xfrm>
              <a:off x="5724360" y="4651200"/>
              <a:ext cx="4119840" cy="820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000000"/>
                  </a:solidFill>
                  <a:latin typeface="DejaVu Serif Condensed"/>
                  <a:ea typeface="DejaVu Sans"/>
                </a:rPr>
                <a:t>S.BARANI</a:t>
              </a:r>
              <a:br>
                <a:rPr sz="1600"/>
              </a:br>
              <a:r>
                <a:rPr b="0" lang="en-US" sz="1600" spc="-1" strike="noStrike">
                  <a:solidFill>
                    <a:srgbClr val="000000"/>
                  </a:solidFill>
                  <a:latin typeface="DejaVu Serif Condensed"/>
                  <a:ea typeface="DejaVu Sans"/>
                </a:rPr>
                <a:t>M.Sc.Information Technology(Third Year)</a:t>
              </a:r>
              <a:endParaRPr b="0" lang="en-US" sz="1600" spc="-1" strike="noStrike">
                <a:solidFill>
                  <a:srgbClr val="000000"/>
                </a:solidFill>
                <a:latin typeface="Arial"/>
              </a:endParaRPr>
            </a:p>
            <a:p>
              <a:pPr defTabSz="457200">
                <a:lnSpc>
                  <a:spcPct val="100000"/>
                </a:lnSpc>
              </a:pPr>
              <a:r>
                <a:rPr b="0" lang="en-US" sz="1600" spc="-1" strike="noStrike">
                  <a:solidFill>
                    <a:srgbClr val="000000"/>
                  </a:solidFill>
                  <a:latin typeface="DejaVu Serif Condensed"/>
                  <a:ea typeface="DejaVu Sans"/>
                </a:rPr>
                <a:t>Reg no:23131026510722010</a:t>
              </a:r>
              <a:endParaRPr b="0" lang="en-US" sz="1600" spc="-1" strike="noStrike">
                <a:solidFill>
                  <a:srgbClr val="000000"/>
                </a:solidFill>
                <a:latin typeface="Arial"/>
              </a:endParaRPr>
            </a:p>
          </p:txBody>
        </p:sp>
      </p:grpSp>
      <p:sp>
        <p:nvSpPr>
          <p:cNvPr id="19" name="TextBox 13"/>
          <p:cNvSpPr/>
          <p:nvPr/>
        </p:nvSpPr>
        <p:spPr>
          <a:xfrm>
            <a:off x="295200" y="4288320"/>
            <a:ext cx="4768200" cy="912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000000"/>
                </a:solidFill>
                <a:latin typeface="DejaVu Serif Condensed"/>
                <a:ea typeface="DejaVu Sans"/>
              </a:rPr>
              <a:t>INSTRUCTED BY:</a:t>
            </a:r>
            <a:endParaRPr b="0" lang="en-US" sz="1800" spc="-1" strike="noStrike">
              <a:solidFill>
                <a:srgbClr val="000000"/>
              </a:solidFill>
              <a:latin typeface="Arial"/>
            </a:endParaRPr>
          </a:p>
          <a:p>
            <a:pPr defTabSz="457200">
              <a:lnSpc>
                <a:spcPct val="100000"/>
              </a:lnSpc>
            </a:pPr>
            <a:endParaRPr b="0" lang="en-US" sz="1800" spc="-1" strike="noStrike">
              <a:solidFill>
                <a:srgbClr val="000000"/>
              </a:solidFill>
              <a:latin typeface="Arial"/>
            </a:endParaRPr>
          </a:p>
          <a:p>
            <a:pPr defTabSz="457200">
              <a:lnSpc>
                <a:spcPct val="100000"/>
              </a:lnSpc>
            </a:pPr>
            <a:endParaRPr b="0" lang="en-US" sz="1800" spc="-1" strike="noStrike">
              <a:solidFill>
                <a:srgbClr val="000000"/>
              </a:solidFill>
              <a:latin typeface="Arial"/>
            </a:endParaRPr>
          </a:p>
        </p:txBody>
      </p:sp>
      <p:pic>
        <p:nvPicPr>
          <p:cNvPr id="20" name="Picture 5" descr=""/>
          <p:cNvPicPr/>
          <p:nvPr/>
        </p:nvPicPr>
        <p:blipFill>
          <a:blip r:embed="rId1"/>
          <a:stretch/>
        </p:blipFill>
        <p:spPr>
          <a:xfrm>
            <a:off x="4290480" y="575640"/>
            <a:ext cx="1189800" cy="953280"/>
          </a:xfrm>
          <a:prstGeom prst="rect">
            <a:avLst/>
          </a:prstGeom>
          <a:ln w="0">
            <a:noFill/>
          </a:ln>
        </p:spPr>
      </p:pic>
      <p:sp>
        <p:nvSpPr>
          <p:cNvPr id="21" name="TextBox 4"/>
          <p:cNvSpPr/>
          <p:nvPr/>
        </p:nvSpPr>
        <p:spPr>
          <a:xfrm>
            <a:off x="1359360" y="496080"/>
            <a:ext cx="310536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3600" spc="-1" strike="noStrike">
                <a:solidFill>
                  <a:srgbClr val="800080"/>
                </a:solidFill>
                <a:highlight>
                  <a:srgbClr val="ffffff"/>
                </a:highlight>
                <a:latin typeface="Times New Roman"/>
                <a:ea typeface="DejaVu Sans"/>
              </a:rPr>
              <a:t>ANNAMALAI</a:t>
            </a:r>
            <a:endParaRPr b="0" lang="en-US" sz="3600" spc="-1" strike="noStrike">
              <a:solidFill>
                <a:srgbClr val="000000"/>
              </a:solidFill>
              <a:latin typeface="Arial"/>
            </a:endParaRPr>
          </a:p>
        </p:txBody>
      </p:sp>
      <p:sp>
        <p:nvSpPr>
          <p:cNvPr id="22" name="TextBox 1"/>
          <p:cNvSpPr/>
          <p:nvPr/>
        </p:nvSpPr>
        <p:spPr>
          <a:xfrm>
            <a:off x="5285160" y="498240"/>
            <a:ext cx="310536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IN" sz="3600" spc="-1" strike="noStrike">
                <a:solidFill>
                  <a:srgbClr val="800080"/>
                </a:solidFill>
                <a:highlight>
                  <a:srgbClr val="ffffff"/>
                </a:highlight>
                <a:latin typeface="Times New Roman"/>
                <a:ea typeface="DejaVu Sans"/>
              </a:rPr>
              <a:t>UNIVERSITY</a:t>
            </a:r>
            <a:endParaRPr b="0" lang="en-US" sz="3600" spc="-1" strike="noStrike">
              <a:solidFill>
                <a:srgbClr val="000000"/>
              </a:solidFill>
              <a:latin typeface="Arial"/>
            </a:endParaRPr>
          </a:p>
        </p:txBody>
      </p:sp>
      <p:sp>
        <p:nvSpPr>
          <p:cNvPr id="23" name=""/>
          <p:cNvSpPr/>
          <p:nvPr/>
        </p:nvSpPr>
        <p:spPr>
          <a:xfrm>
            <a:off x="456840" y="4831200"/>
            <a:ext cx="4239000" cy="784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DejaVu Serif Condensed"/>
                <a:ea typeface="DejaVu Sans"/>
              </a:rPr>
              <a:t>Dr.K.VADIVAZHAGAN</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DejaVu Serif Condensed"/>
                <a:ea typeface="DejaVu Sans"/>
              </a:rPr>
              <a:t>ASSISTANT PROFESSOR/PROGRAMMER</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Rectangle 22"/>
          <p:cNvSpPr/>
          <p:nvPr/>
        </p:nvSpPr>
        <p:spPr>
          <a:xfrm>
            <a:off x="227520" y="225720"/>
            <a:ext cx="4115880" cy="9097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pPr>
            <a:r>
              <a:rPr b="1" lang="en-US" sz="2000" spc="-1" strike="noStrike">
                <a:solidFill>
                  <a:srgbClr val="000000"/>
                </a:solidFill>
                <a:latin typeface="DejaVu Serif Condensed"/>
                <a:ea typeface="DejaVu Sans"/>
              </a:rPr>
              <a:t>AIM OF THE PROJECT</a:t>
            </a:r>
            <a:r>
              <a:rPr b="1" lang="en-US" sz="2000" spc="-1" strike="noStrike">
                <a:solidFill>
                  <a:srgbClr val="000000"/>
                </a:solidFill>
                <a:latin typeface="DejaVu Serif Condensed"/>
                <a:ea typeface="DejaVu Sans"/>
              </a:rPr>
              <a:t>	</a:t>
            </a:r>
            <a:endParaRPr b="1" lang="en-US" sz="2000" spc="-1" strike="noStrike">
              <a:solidFill>
                <a:srgbClr val="000000"/>
              </a:solidFill>
              <a:latin typeface="DejaVu Serif Condensed"/>
            </a:endParaRPr>
          </a:p>
        </p:txBody>
      </p:sp>
      <p:sp>
        <p:nvSpPr>
          <p:cNvPr id="25" name="Rectangle 23"/>
          <p:cNvSpPr/>
          <p:nvPr/>
        </p:nvSpPr>
        <p:spPr>
          <a:xfrm>
            <a:off x="541440" y="902160"/>
            <a:ext cx="9132480" cy="427680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50000"/>
              </a:lnSpc>
              <a:spcBef>
                <a:spcPts val="1191"/>
              </a:spcBef>
              <a:spcAft>
                <a:spcPts val="992"/>
              </a:spcAft>
              <a:buClr>
                <a:srgbClr val="000000"/>
              </a:buClr>
              <a:buSzPct val="45000"/>
              <a:buFont typeface="Wingdings" charset="2"/>
              <a:buChar char=""/>
            </a:pPr>
            <a:r>
              <a:rPr b="1" lang="en-US" sz="1800" spc="-1" strike="noStrike">
                <a:solidFill>
                  <a:srgbClr val="000000"/>
                </a:solidFill>
                <a:latin typeface="DejaVu Serif Condensed"/>
                <a:ea typeface="Noto Sans CJK SC"/>
              </a:rPr>
              <a:t>To Develop a Weather Forecasting Web Application</a:t>
            </a:r>
            <a:endParaRPr b="0" lang="en-US" sz="1800" spc="-1" strike="noStrike">
              <a:solidFill>
                <a:srgbClr val="000000"/>
              </a:solidFill>
              <a:latin typeface="Arial"/>
            </a:endParaRPr>
          </a:p>
          <a:p>
            <a:pPr marL="216000" indent="-216000" defTabSz="914400">
              <a:lnSpc>
                <a:spcPct val="150000"/>
              </a:lnSpc>
              <a:spcBef>
                <a:spcPts val="1191"/>
              </a:spcBef>
              <a:spcAft>
                <a:spcPts val="992"/>
              </a:spcAft>
              <a:buClr>
                <a:srgbClr val="000000"/>
              </a:buClr>
              <a:buSzPct val="45000"/>
              <a:buFont typeface="Wingdings" charset="2"/>
              <a:buChar char=""/>
            </a:pPr>
            <a:r>
              <a:rPr b="0" lang="en-US" sz="1800" spc="-1" strike="noStrike">
                <a:solidFill>
                  <a:srgbClr val="000000"/>
                </a:solidFill>
                <a:latin typeface="DejaVu Serif Condensed"/>
                <a:ea typeface="Noto Sans CJK SC"/>
              </a:rPr>
              <a:t>The main aim is to create a simple and user-friendly application that provides real-time weather information for different locations.</a:t>
            </a:r>
            <a:endParaRPr b="0" lang="en-US" sz="1800" spc="-1" strike="noStrike">
              <a:solidFill>
                <a:srgbClr val="000000"/>
              </a:solidFill>
              <a:latin typeface="Arial"/>
            </a:endParaRPr>
          </a:p>
          <a:p>
            <a:pPr marL="216000" indent="-216000" defTabSz="914400">
              <a:lnSpc>
                <a:spcPct val="150000"/>
              </a:lnSpc>
              <a:spcBef>
                <a:spcPts val="1191"/>
              </a:spcBef>
              <a:spcAft>
                <a:spcPts val="992"/>
              </a:spcAft>
              <a:buClr>
                <a:srgbClr val="000000"/>
              </a:buClr>
              <a:buSzPct val="45000"/>
              <a:buFont typeface="Wingdings" charset="2"/>
              <a:buChar char=""/>
            </a:pPr>
            <a:r>
              <a:rPr b="1" lang="en-US" sz="1800" spc="-1" strike="noStrike">
                <a:solidFill>
                  <a:srgbClr val="000000"/>
                </a:solidFill>
                <a:latin typeface="DejaVu Serif Condensed"/>
                <a:ea typeface="Noto Sans CJK SC"/>
              </a:rPr>
              <a:t>To Use API for Real-Time Weather Data</a:t>
            </a:r>
            <a:endParaRPr b="0" lang="en-US" sz="1800" spc="-1" strike="noStrike">
              <a:solidFill>
                <a:srgbClr val="000000"/>
              </a:solidFill>
              <a:latin typeface="Arial"/>
            </a:endParaRPr>
          </a:p>
          <a:p>
            <a:pPr marL="216000" indent="-216000" defTabSz="914400">
              <a:lnSpc>
                <a:spcPct val="150000"/>
              </a:lnSpc>
              <a:spcBef>
                <a:spcPts val="1191"/>
              </a:spcBef>
              <a:spcAft>
                <a:spcPts val="992"/>
              </a:spcAft>
              <a:buClr>
                <a:srgbClr val="000000"/>
              </a:buClr>
              <a:buSzPct val="45000"/>
              <a:buFont typeface="Wingdings" charset="2"/>
              <a:buChar char=""/>
            </a:pPr>
            <a:r>
              <a:rPr b="0" lang="en-US" sz="1800" spc="-1" strike="noStrike">
                <a:solidFill>
                  <a:srgbClr val="000000"/>
                </a:solidFill>
                <a:latin typeface="DejaVu Serif Condensed"/>
                <a:ea typeface="Noto Sans CJK SC"/>
              </a:rPr>
              <a:t>The project uses Open-Meteo public API to fetch live weather data such as temperature and wind speed.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Rectangle 24"/>
          <p:cNvSpPr/>
          <p:nvPr/>
        </p:nvSpPr>
        <p:spPr>
          <a:xfrm>
            <a:off x="227520" y="226800"/>
            <a:ext cx="2985120" cy="7963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2000" spc="-1" strike="noStrike">
                <a:solidFill>
                  <a:srgbClr val="000000"/>
                </a:solidFill>
                <a:latin typeface="DejaVu Serif Condensed"/>
                <a:ea typeface="DejaVu Sans"/>
              </a:rPr>
              <a:t>OBJECTIVES</a:t>
            </a:r>
            <a:endParaRPr b="1" lang="en-US" sz="2000" spc="-1" strike="noStrike">
              <a:solidFill>
                <a:srgbClr val="000000"/>
              </a:solidFill>
              <a:latin typeface="DejaVu Serif Condensed"/>
            </a:endParaRPr>
          </a:p>
        </p:txBody>
      </p:sp>
      <p:sp>
        <p:nvSpPr>
          <p:cNvPr id="27" name="Rectangle 25"/>
          <p:cNvSpPr/>
          <p:nvPr/>
        </p:nvSpPr>
        <p:spPr>
          <a:xfrm>
            <a:off x="1479960" y="867960"/>
            <a:ext cx="7112520" cy="420732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design and develop a web-based weather forecasting system</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integrate an external public weather API (Open-Meteo)</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fetch real-time weather data using HTTP requests</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process and interpret JSON response data</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implement asynchronous programming using JavaScript</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display weather information dynamically on the web page</a:t>
            </a:r>
            <a:endParaRPr b="0" lang="en-US" sz="1800" spc="-1" strike="noStrike">
              <a:solidFill>
                <a:srgbClr val="000000"/>
              </a:solidFill>
              <a:latin typeface="Arial"/>
            </a:endParaRPr>
          </a:p>
          <a:p>
            <a:pPr marL="216000" indent="-216000" defTabSz="914400">
              <a:lnSpc>
                <a:spcPct val="115000"/>
              </a:lnSpc>
              <a:spcBef>
                <a:spcPts val="1225"/>
              </a:spcBef>
              <a:spcAft>
                <a:spcPts val="1009"/>
              </a:spcAft>
              <a:buClr>
                <a:srgbClr val="000000"/>
              </a:buClr>
              <a:buSzPct val="45000"/>
              <a:buFont typeface="Wingdings" charset="2"/>
              <a:buChar char=""/>
            </a:pPr>
            <a:r>
              <a:rPr b="0" lang="en-US" sz="1800" spc="-1" strike="noStrike">
                <a:solidFill>
                  <a:srgbClr val="000000"/>
                </a:solidFill>
                <a:latin typeface="DejaVu Serif Condensed"/>
                <a:ea typeface="Noto Sans CJK SC"/>
              </a:rPr>
              <a:t>To improve user experience using weather-based images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Rectangle 26"/>
          <p:cNvSpPr/>
          <p:nvPr/>
        </p:nvSpPr>
        <p:spPr>
          <a:xfrm>
            <a:off x="227520" y="225720"/>
            <a:ext cx="5938200" cy="9097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pPr>
            <a:r>
              <a:rPr b="1" lang="en-US" sz="2000" spc="-1" strike="noStrike">
                <a:solidFill>
                  <a:srgbClr val="000000"/>
                </a:solidFill>
                <a:latin typeface="DejaVu Serif Condensed"/>
                <a:ea typeface="DejaVu Sans"/>
              </a:rPr>
              <a:t>PROJECT MODULES</a:t>
            </a:r>
            <a:endParaRPr b="1" lang="en-US" sz="2000" spc="-1" strike="noStrike">
              <a:solidFill>
                <a:srgbClr val="000000"/>
              </a:solidFill>
              <a:latin typeface="DejaVu Serif Condensed"/>
            </a:endParaRPr>
          </a:p>
        </p:txBody>
      </p:sp>
      <p:sp>
        <p:nvSpPr>
          <p:cNvPr id="29" name="Rectangle 27"/>
          <p:cNvSpPr/>
          <p:nvPr/>
        </p:nvSpPr>
        <p:spPr>
          <a:xfrm>
            <a:off x="1948320" y="903600"/>
            <a:ext cx="6751800" cy="182880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15000"/>
              </a:lnSpc>
              <a:spcBef>
                <a:spcPts val="1191"/>
              </a:spcBef>
              <a:spcAft>
                <a:spcPts val="992"/>
              </a:spcAft>
              <a:buClr>
                <a:srgbClr val="000000"/>
              </a:buClr>
              <a:buSzPct val="45000"/>
              <a:buFont typeface="Wingdings" charset="2"/>
              <a:buChar char=""/>
            </a:pPr>
            <a:endParaRPr b="0" lang="en-US" sz="18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Input field for city name</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Search button</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Displays weather details</a:t>
            </a:r>
            <a:endParaRPr b="0" lang="en-US" sz="1600" spc="-1" strike="noStrike">
              <a:solidFill>
                <a:srgbClr val="000000"/>
              </a:solidFill>
              <a:latin typeface="Arial"/>
            </a:endParaRPr>
          </a:p>
        </p:txBody>
      </p:sp>
      <p:sp>
        <p:nvSpPr>
          <p:cNvPr id="30" name=""/>
          <p:cNvSpPr txBox="1"/>
          <p:nvPr/>
        </p:nvSpPr>
        <p:spPr>
          <a:xfrm>
            <a:off x="869400" y="987840"/>
            <a:ext cx="4280400" cy="6267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ea typeface="DejaVu Sans"/>
              </a:rPr>
              <a:t>Module 1: User Interface (UI)</a:t>
            </a:r>
            <a:endParaRPr b="1" lang="en-US" sz="1800" spc="-1" strike="noStrike">
              <a:solidFill>
                <a:srgbClr val="000000"/>
              </a:solidFill>
              <a:latin typeface="Arial"/>
            </a:endParaRPr>
          </a:p>
        </p:txBody>
      </p:sp>
      <p:sp>
        <p:nvSpPr>
          <p:cNvPr id="31" name=""/>
          <p:cNvSpPr txBox="1"/>
          <p:nvPr/>
        </p:nvSpPr>
        <p:spPr>
          <a:xfrm>
            <a:off x="878400" y="3245400"/>
            <a:ext cx="4728600" cy="6267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rPr>
              <a:t>Module 2: API Integration Module</a:t>
            </a:r>
            <a:endParaRPr b="1" lang="en-US" sz="1800" spc="-1" strike="noStrike">
              <a:solidFill>
                <a:srgbClr val="000000"/>
              </a:solidFill>
              <a:latin typeface="DejaVu Serif Condensed"/>
            </a:endParaRPr>
          </a:p>
        </p:txBody>
      </p:sp>
      <p:sp>
        <p:nvSpPr>
          <p:cNvPr id="32" name=""/>
          <p:cNvSpPr txBox="1"/>
          <p:nvPr/>
        </p:nvSpPr>
        <p:spPr>
          <a:xfrm>
            <a:off x="2161800" y="3876840"/>
            <a:ext cx="4093200" cy="2502000"/>
          </a:xfrm>
          <a:prstGeom prst="rect">
            <a:avLst/>
          </a:prstGeom>
          <a:noFill/>
          <a:ln w="0">
            <a:noFill/>
          </a:ln>
        </p:spPr>
        <p:txBody>
          <a:bodyPr lIns="90000" rIns="90000" tIns="45000" bIns="45000" anchor="t">
            <a:noAutofit/>
          </a:bodyPr>
          <a:p>
            <a:endParaRPr b="0" lang="en-US" sz="1600" spc="-1" strike="noStrike">
              <a:solidFill>
                <a:srgbClr val="000000"/>
              </a:solidFill>
              <a:latin typeface="DejaVu Serif Condensed"/>
            </a:endParaRPr>
          </a:p>
          <a:p>
            <a:endParaRPr b="0" lang="en-US" sz="1600" spc="-1" strike="noStrike">
              <a:solidFill>
                <a:srgbClr val="000000"/>
              </a:solidFill>
              <a:latin typeface="DejaVu Serif Condensed"/>
            </a:endParaRPr>
          </a:p>
          <a:p>
            <a:endParaRPr b="0" lang="en-US" sz="1600" spc="-1" strike="noStrike">
              <a:solidFill>
                <a:srgbClr val="000000"/>
              </a:solidFill>
              <a:latin typeface="DejaVu Serif Condensed"/>
            </a:endParaRPr>
          </a:p>
          <a:p>
            <a:endParaRPr b="0" lang="en-US" sz="1600" spc="-1" strike="noStrike">
              <a:solidFill>
                <a:srgbClr val="000000"/>
              </a:solidFill>
              <a:latin typeface="DejaVu Serif Condensed"/>
            </a:endParaRPr>
          </a:p>
        </p:txBody>
      </p:sp>
      <p:sp>
        <p:nvSpPr>
          <p:cNvPr id="33" name="Rectangle 3"/>
          <p:cNvSpPr/>
          <p:nvPr/>
        </p:nvSpPr>
        <p:spPr>
          <a:xfrm>
            <a:off x="1948320" y="3243600"/>
            <a:ext cx="6751800" cy="182880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15000"/>
              </a:lnSpc>
              <a:spcBef>
                <a:spcPts val="1191"/>
              </a:spcBef>
              <a:spcAft>
                <a:spcPts val="992"/>
              </a:spcAft>
              <a:buClr>
                <a:srgbClr val="000000"/>
              </a:buClr>
              <a:buSzPct val="45000"/>
              <a:buFont typeface="Wingdings" charset="2"/>
              <a:buChar char=""/>
            </a:pPr>
            <a:endParaRPr b="0" lang="en-US" sz="1800" spc="-1" strike="noStrike">
              <a:solidFill>
                <a:srgbClr val="000000"/>
              </a:solidFill>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Connects to Open-Meteo API </a:t>
            </a:r>
            <a:endParaRPr b="0" lang="en-US" sz="1600" spc="-1" strike="noStrike">
              <a:solidFill>
                <a:srgbClr val="000000"/>
              </a:solidFill>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Sends HTTP request </a:t>
            </a:r>
            <a:endParaRPr b="0" lang="en-US" sz="1600" spc="-1" strike="noStrike">
              <a:solidFill>
                <a:srgbClr val="000000"/>
              </a:solidFill>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Receives JSON data</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Rectangle 1"/>
          <p:cNvSpPr/>
          <p:nvPr/>
        </p:nvSpPr>
        <p:spPr>
          <a:xfrm>
            <a:off x="227520" y="225720"/>
            <a:ext cx="5938200" cy="9097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pPr>
            <a:r>
              <a:rPr b="1" lang="en-US" sz="2000" spc="-1" strike="noStrike">
                <a:solidFill>
                  <a:srgbClr val="000000"/>
                </a:solidFill>
                <a:latin typeface="DejaVu Serif Condensed"/>
                <a:ea typeface="DejaVu Sans"/>
              </a:rPr>
              <a:t>PROJECT MODULES</a:t>
            </a:r>
            <a:endParaRPr b="1" lang="en-US" sz="2000" spc="-1" strike="noStrike">
              <a:solidFill>
                <a:srgbClr val="000000"/>
              </a:solidFill>
              <a:latin typeface="DejaVu Serif Condensed"/>
            </a:endParaRPr>
          </a:p>
        </p:txBody>
      </p:sp>
      <p:sp>
        <p:nvSpPr>
          <p:cNvPr id="35" name="Rectangle 2"/>
          <p:cNvSpPr/>
          <p:nvPr/>
        </p:nvSpPr>
        <p:spPr>
          <a:xfrm>
            <a:off x="1948320" y="903600"/>
            <a:ext cx="6751800" cy="182880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15000"/>
              </a:lnSpc>
              <a:spcBef>
                <a:spcPts val="1191"/>
              </a:spcBef>
              <a:spcAft>
                <a:spcPts val="992"/>
              </a:spcAft>
              <a:buClr>
                <a:srgbClr val="000000"/>
              </a:buClr>
              <a:buSzPct val="45000"/>
              <a:buFont typeface="Wingdings" charset="2"/>
              <a:buChar char=""/>
            </a:pPr>
            <a:endParaRPr b="0" lang="en-US" sz="18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Converts JSON data into JavaScript object</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Extracts temperature, wind speed</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Handles errors</a:t>
            </a:r>
            <a:endParaRPr b="0" lang="en-US" sz="1600" spc="-1" strike="noStrike">
              <a:solidFill>
                <a:srgbClr val="000000"/>
              </a:solidFill>
              <a:latin typeface="Arial"/>
            </a:endParaRPr>
          </a:p>
        </p:txBody>
      </p:sp>
      <p:sp>
        <p:nvSpPr>
          <p:cNvPr id="36" name=""/>
          <p:cNvSpPr txBox="1"/>
          <p:nvPr/>
        </p:nvSpPr>
        <p:spPr>
          <a:xfrm>
            <a:off x="869400" y="987840"/>
            <a:ext cx="5302800" cy="6267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ea typeface="DejaVu Sans"/>
              </a:rPr>
              <a:t>Module 3: Data Processing Module</a:t>
            </a:r>
            <a:endParaRPr b="0" lang="en-US" sz="1800" spc="-1" strike="noStrike">
              <a:solidFill>
                <a:srgbClr val="000000"/>
              </a:solidFill>
              <a:latin typeface="Arial"/>
            </a:endParaRPr>
          </a:p>
        </p:txBody>
      </p:sp>
      <p:sp>
        <p:nvSpPr>
          <p:cNvPr id="37" name=""/>
          <p:cNvSpPr txBox="1"/>
          <p:nvPr/>
        </p:nvSpPr>
        <p:spPr>
          <a:xfrm>
            <a:off x="878400" y="3245400"/>
            <a:ext cx="5979600" cy="6267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rPr>
              <a:t>Module 4: Weather Visualization Module</a:t>
            </a:r>
            <a:endParaRPr b="0" lang="en-US" sz="1800" spc="-1" strike="noStrike">
              <a:solidFill>
                <a:srgbClr val="000000"/>
              </a:solidFill>
              <a:latin typeface="Arial"/>
            </a:endParaRPr>
          </a:p>
        </p:txBody>
      </p:sp>
      <p:sp>
        <p:nvSpPr>
          <p:cNvPr id="38" name="Rectangle 4"/>
          <p:cNvSpPr/>
          <p:nvPr/>
        </p:nvSpPr>
        <p:spPr>
          <a:xfrm>
            <a:off x="1948320" y="3243600"/>
            <a:ext cx="6751800" cy="1828800"/>
          </a:xfrm>
          <a:prstGeom prst="rect">
            <a:avLst/>
          </a:prstGeom>
          <a:noFill/>
          <a:ln w="0">
            <a:noFill/>
          </a:ln>
        </p:spPr>
        <p:style>
          <a:lnRef idx="0"/>
          <a:fillRef idx="0"/>
          <a:effectRef idx="0"/>
          <a:fontRef idx="minor"/>
        </p:style>
        <p:txBody>
          <a:bodyPr lIns="90000" rIns="90000" tIns="45000" bIns="45000" anchor="t">
            <a:noAutofit/>
          </a:bodyPr>
          <a:p>
            <a:pPr marL="216000" indent="-216000" defTabSz="914400">
              <a:lnSpc>
                <a:spcPct val="115000"/>
              </a:lnSpc>
              <a:spcBef>
                <a:spcPts val="1191"/>
              </a:spcBef>
              <a:spcAft>
                <a:spcPts val="992"/>
              </a:spcAft>
              <a:buClr>
                <a:srgbClr val="000000"/>
              </a:buClr>
              <a:buSzPct val="45000"/>
              <a:buFont typeface="Wingdings" charset="2"/>
              <a:buChar char=""/>
            </a:pPr>
            <a:endParaRPr b="0" lang="en-US" sz="18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Displays weather data dynamically</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Shows weather-based images</a:t>
            </a:r>
            <a:endParaRPr b="0" lang="en-US" sz="1600" spc="-1" strike="noStrike">
              <a:solidFill>
                <a:srgbClr val="000000"/>
              </a:solidFill>
              <a:latin typeface="Arial"/>
            </a:endParaRPr>
          </a:p>
          <a:p>
            <a:pPr marL="216000" indent="-216000" defTabSz="914400">
              <a:lnSpc>
                <a:spcPct val="115000"/>
              </a:lnSpc>
              <a:spcBef>
                <a:spcPts val="1191"/>
              </a:spcBef>
              <a:spcAft>
                <a:spcPts val="992"/>
              </a:spcAft>
              <a:buClr>
                <a:srgbClr val="000000"/>
              </a:buClr>
              <a:buSzPct val="45000"/>
              <a:buFont typeface="Wingdings" charset="2"/>
              <a:buChar char=""/>
            </a:pPr>
            <a:r>
              <a:rPr b="0" lang="en-US" sz="1600" spc="-1" strike="noStrike">
                <a:solidFill>
                  <a:srgbClr val="000000"/>
                </a:solidFill>
                <a:latin typeface="DejaVu Serif Condensed"/>
                <a:ea typeface="DejaVu Sans"/>
              </a:rPr>
              <a:t>Improves UI interaction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Rectangle 30"/>
          <p:cNvSpPr/>
          <p:nvPr/>
        </p:nvSpPr>
        <p:spPr>
          <a:xfrm>
            <a:off x="223560" y="214920"/>
            <a:ext cx="6992640" cy="9097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rgbClr val="000000"/>
              </a:solidFill>
              <a:latin typeface="Arial"/>
            </a:endParaRPr>
          </a:p>
        </p:txBody>
      </p:sp>
      <p:sp>
        <p:nvSpPr>
          <p:cNvPr id="40" name=""/>
          <p:cNvSpPr txBox="1"/>
          <p:nvPr/>
        </p:nvSpPr>
        <p:spPr>
          <a:xfrm>
            <a:off x="266400" y="239400"/>
            <a:ext cx="3346200" cy="62100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rPr>
              <a:t>DATA FLOW DIAGRAM</a:t>
            </a:r>
            <a:endParaRPr b="1" lang="en-US" sz="1800" spc="-1" strike="noStrike">
              <a:solidFill>
                <a:srgbClr val="000000"/>
              </a:solidFill>
              <a:latin typeface="DejaVu Serif Condensed"/>
            </a:endParaRPr>
          </a:p>
        </p:txBody>
      </p:sp>
      <p:sp>
        <p:nvSpPr>
          <p:cNvPr id="41" name=""/>
          <p:cNvSpPr/>
          <p:nvPr/>
        </p:nvSpPr>
        <p:spPr>
          <a:xfrm>
            <a:off x="3777840" y="131256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Enter City Name</a:t>
            </a:r>
            <a:endParaRPr b="0" lang="en-US" sz="1600" spc="-1" strike="noStrike">
              <a:solidFill>
                <a:srgbClr val="000000"/>
              </a:solidFill>
              <a:latin typeface="Arial"/>
            </a:endParaRPr>
          </a:p>
        </p:txBody>
      </p:sp>
      <p:sp>
        <p:nvSpPr>
          <p:cNvPr id="42" name=""/>
          <p:cNvSpPr/>
          <p:nvPr/>
        </p:nvSpPr>
        <p:spPr>
          <a:xfrm>
            <a:off x="3777840" y="206892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FRONTEND </a:t>
            </a:r>
            <a:r>
              <a:rPr b="0" lang="en-US" sz="1600" spc="-1" strike="noStrike">
                <a:solidFill>
                  <a:srgbClr val="000000"/>
                </a:solidFill>
                <a:latin typeface="DejaVu Serif Condensed"/>
              </a:rPr>
              <a:t>(JavaScript)</a:t>
            </a:r>
            <a:endParaRPr b="0" lang="en-US" sz="1600" spc="-1" strike="noStrike">
              <a:solidFill>
                <a:srgbClr val="000000"/>
              </a:solidFill>
              <a:latin typeface="Arial"/>
            </a:endParaRPr>
          </a:p>
        </p:txBody>
      </p:sp>
      <p:sp>
        <p:nvSpPr>
          <p:cNvPr id="43" name=""/>
          <p:cNvSpPr/>
          <p:nvPr/>
        </p:nvSpPr>
        <p:spPr>
          <a:xfrm>
            <a:off x="3321000" y="2789280"/>
            <a:ext cx="343872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API Request (Open-Meteo)</a:t>
            </a:r>
            <a:endParaRPr b="0" lang="en-US" sz="1600" spc="-1" strike="noStrike">
              <a:solidFill>
                <a:srgbClr val="000000"/>
              </a:solidFill>
              <a:latin typeface="Arial"/>
            </a:endParaRPr>
          </a:p>
        </p:txBody>
      </p:sp>
      <p:sp>
        <p:nvSpPr>
          <p:cNvPr id="44" name=""/>
          <p:cNvSpPr/>
          <p:nvPr/>
        </p:nvSpPr>
        <p:spPr>
          <a:xfrm>
            <a:off x="3777840" y="354564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Weather Data (JSON)</a:t>
            </a:r>
            <a:endParaRPr b="0" lang="en-US" sz="1600" spc="-1" strike="noStrike">
              <a:solidFill>
                <a:srgbClr val="000000"/>
              </a:solidFill>
              <a:latin typeface="Arial"/>
            </a:endParaRPr>
          </a:p>
        </p:txBody>
      </p:sp>
      <p:sp>
        <p:nvSpPr>
          <p:cNvPr id="45" name=""/>
          <p:cNvSpPr/>
          <p:nvPr/>
        </p:nvSpPr>
        <p:spPr>
          <a:xfrm>
            <a:off x="3777840" y="426600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Process Data</a:t>
            </a:r>
            <a:endParaRPr b="0" lang="en-US" sz="1600" spc="-1" strike="noStrike">
              <a:solidFill>
                <a:srgbClr val="000000"/>
              </a:solidFill>
              <a:latin typeface="Arial"/>
            </a:endParaRPr>
          </a:p>
        </p:txBody>
      </p:sp>
      <p:sp>
        <p:nvSpPr>
          <p:cNvPr id="46" name=""/>
          <p:cNvSpPr/>
          <p:nvPr/>
        </p:nvSpPr>
        <p:spPr>
          <a:xfrm>
            <a:off x="3777840" y="502236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Display on UI</a:t>
            </a:r>
            <a:endParaRPr b="0" lang="en-US" sz="1600" spc="-1" strike="noStrike">
              <a:solidFill>
                <a:srgbClr val="000000"/>
              </a:solidFill>
              <a:latin typeface="Arial"/>
            </a:endParaRPr>
          </a:p>
        </p:txBody>
      </p:sp>
      <p:sp>
        <p:nvSpPr>
          <p:cNvPr id="47" name=""/>
          <p:cNvSpPr/>
          <p:nvPr/>
        </p:nvSpPr>
        <p:spPr>
          <a:xfrm>
            <a:off x="3777840" y="520920"/>
            <a:ext cx="2525040" cy="4442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en-US" sz="1600" spc="-1" strike="noStrike">
                <a:solidFill>
                  <a:srgbClr val="000000"/>
                </a:solidFill>
                <a:latin typeface="DejaVu Serif Condensed"/>
              </a:rPr>
              <a:t>USER</a:t>
            </a:r>
            <a:endParaRPr b="0" lang="en-US" sz="1600" spc="-1" strike="noStrike">
              <a:solidFill>
                <a:srgbClr val="000000"/>
              </a:solidFill>
              <a:latin typeface="Arial"/>
            </a:endParaRPr>
          </a:p>
        </p:txBody>
      </p:sp>
      <p:sp>
        <p:nvSpPr>
          <p:cNvPr id="48" name=""/>
          <p:cNvSpPr/>
          <p:nvPr/>
        </p:nvSpPr>
        <p:spPr>
          <a:xfrm>
            <a:off x="4926240" y="1022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49" name=""/>
          <p:cNvSpPr/>
          <p:nvPr/>
        </p:nvSpPr>
        <p:spPr>
          <a:xfrm>
            <a:off x="4926240" y="1814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50" name=""/>
          <p:cNvSpPr/>
          <p:nvPr/>
        </p:nvSpPr>
        <p:spPr>
          <a:xfrm>
            <a:off x="4926240" y="2534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51" name=""/>
          <p:cNvSpPr/>
          <p:nvPr/>
        </p:nvSpPr>
        <p:spPr>
          <a:xfrm>
            <a:off x="4926240" y="3290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52" name=""/>
          <p:cNvSpPr/>
          <p:nvPr/>
        </p:nvSpPr>
        <p:spPr>
          <a:xfrm>
            <a:off x="4926240" y="4010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
        <p:nvSpPr>
          <p:cNvPr id="53" name=""/>
          <p:cNvSpPr/>
          <p:nvPr/>
        </p:nvSpPr>
        <p:spPr>
          <a:xfrm>
            <a:off x="4926240" y="4766400"/>
            <a:ext cx="228600" cy="228600"/>
          </a:xfrm>
          <a:prstGeom prst="downArrow">
            <a:avLst>
              <a:gd name="adj1" fmla="val 50000"/>
              <a:gd name="adj2" fmla="val 25000"/>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
          <p:cNvSpPr txBox="1"/>
          <p:nvPr/>
        </p:nvSpPr>
        <p:spPr>
          <a:xfrm>
            <a:off x="189720" y="186480"/>
            <a:ext cx="3743280" cy="8949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rPr>
              <a:t>Final Output Screenshots</a:t>
            </a:r>
            <a:endParaRPr b="1" lang="en-US" sz="1800" spc="-1" strike="noStrike">
              <a:solidFill>
                <a:srgbClr val="000000"/>
              </a:solidFill>
              <a:latin typeface="DejaVu Serif Condensed"/>
            </a:endParaRPr>
          </a:p>
        </p:txBody>
      </p:sp>
      <p:pic>
        <p:nvPicPr>
          <p:cNvPr id="55" name="" descr=""/>
          <p:cNvPicPr/>
          <p:nvPr/>
        </p:nvPicPr>
        <p:blipFill>
          <a:blip r:embed="rId1"/>
          <a:stretch/>
        </p:blipFill>
        <p:spPr>
          <a:xfrm>
            <a:off x="1930680" y="841680"/>
            <a:ext cx="6219360" cy="42955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
          <p:cNvSpPr txBox="1"/>
          <p:nvPr/>
        </p:nvSpPr>
        <p:spPr>
          <a:xfrm>
            <a:off x="189720" y="186480"/>
            <a:ext cx="3743280" cy="894960"/>
          </a:xfrm>
          <a:prstGeom prst="rect">
            <a:avLst/>
          </a:prstGeom>
          <a:noFill/>
          <a:ln w="0">
            <a:noFill/>
          </a:ln>
        </p:spPr>
        <p:txBody>
          <a:bodyPr lIns="90000" rIns="90000" tIns="45000" bIns="45000" anchor="t">
            <a:noAutofit/>
          </a:bodyPr>
          <a:p>
            <a:r>
              <a:rPr b="1" lang="en-US" sz="1800" spc="-1" strike="noStrike">
                <a:solidFill>
                  <a:srgbClr val="000000"/>
                </a:solidFill>
                <a:latin typeface="DejaVu Serif Condensed"/>
              </a:rPr>
              <a:t>Final Output Screenshots</a:t>
            </a:r>
            <a:endParaRPr b="1" lang="en-US" sz="1800" spc="-1" strike="noStrike">
              <a:solidFill>
                <a:srgbClr val="000000"/>
              </a:solidFill>
              <a:latin typeface="DejaVu Serif Condensed"/>
            </a:endParaRPr>
          </a:p>
        </p:txBody>
      </p:sp>
      <p:pic>
        <p:nvPicPr>
          <p:cNvPr id="57" name="" descr=""/>
          <p:cNvPicPr/>
          <p:nvPr/>
        </p:nvPicPr>
        <p:blipFill>
          <a:blip r:embed="rId1"/>
          <a:stretch/>
        </p:blipFill>
        <p:spPr>
          <a:xfrm rot="17400">
            <a:off x="2891520" y="637200"/>
            <a:ext cx="4257360" cy="4842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Rectangle 39"/>
          <p:cNvSpPr/>
          <p:nvPr/>
        </p:nvSpPr>
        <p:spPr>
          <a:xfrm>
            <a:off x="219600" y="302760"/>
            <a:ext cx="4063320" cy="3859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pPr>
            <a:r>
              <a:rPr b="1" lang="en-US" sz="1800" spc="-1" strike="noStrike">
                <a:solidFill>
                  <a:srgbClr val="000000"/>
                </a:solidFill>
                <a:latin typeface="DejaVu Serif Condensed"/>
                <a:ea typeface="DejaVu Sans"/>
              </a:rPr>
              <a:t>CONCLUSION</a:t>
            </a:r>
            <a:endParaRPr b="0" lang="en-US" sz="1800" spc="-1" strike="noStrike">
              <a:solidFill>
                <a:srgbClr val="000000"/>
              </a:solidFill>
              <a:latin typeface="Arial"/>
            </a:endParaRPr>
          </a:p>
        </p:txBody>
      </p:sp>
      <p:sp>
        <p:nvSpPr>
          <p:cNvPr id="59" name=""/>
          <p:cNvSpPr txBox="1"/>
          <p:nvPr/>
        </p:nvSpPr>
        <p:spPr>
          <a:xfrm>
            <a:off x="996840" y="1380600"/>
            <a:ext cx="8087040" cy="3827160"/>
          </a:xfrm>
          <a:prstGeom prst="rect">
            <a:avLst/>
          </a:prstGeom>
          <a:noFill/>
          <a:ln w="0">
            <a:noFill/>
          </a:ln>
        </p:spPr>
        <p:txBody>
          <a:bodyPr lIns="90000" rIns="90000" tIns="45000" bIns="45000" anchor="t">
            <a:noAutofit/>
          </a:bodyPr>
          <a:p>
            <a:pPr>
              <a:lnSpc>
                <a:spcPct val="150000"/>
              </a:lnSpc>
              <a:spcBef>
                <a:spcPts val="1191"/>
              </a:spcBef>
              <a:spcAft>
                <a:spcPts val="992"/>
              </a:spcAft>
            </a:pPr>
            <a:r>
              <a:rPr b="0" lang="en-US" sz="1800" spc="-1" strike="noStrike">
                <a:solidFill>
                  <a:srgbClr val="000000"/>
                </a:solidFill>
                <a:latin typeface="DejaVu Serif Condensed"/>
              </a:rPr>
              <a:t>This project demonstrates a simple and effective weather forecasting system using API integration. It successfully retrieves real-time weather data and displays it dynamically on the web interface. The project highlights the use of JavaScript, asynchronous programming, and JSON data handling, making it useful for learning modern web development concepts.</a:t>
            </a:r>
            <a:endParaRPr b="0" lang="en-US" sz="1800" spc="-1" strike="noStrike">
              <a:solidFill>
                <a:srgbClr val="000000"/>
              </a:solidFill>
              <a:latin typeface="DejaVu Serif Condensed"/>
            </a:endParaRPr>
          </a:p>
          <a:p>
            <a:pPr>
              <a:lnSpc>
                <a:spcPct val="150000"/>
              </a:lnSpc>
              <a:spcBef>
                <a:spcPts val="1191"/>
              </a:spcBef>
              <a:spcAft>
                <a:spcPts val="992"/>
              </a:spcAft>
            </a:pPr>
            <a:endParaRPr b="0" lang="en-US" sz="1800" spc="-1" strike="noStrike">
              <a:solidFill>
                <a:srgbClr val="000000"/>
              </a:solidFill>
              <a:latin typeface="DejaVu Serif Condensed"/>
            </a:endParaRPr>
          </a:p>
          <a:p>
            <a:pPr>
              <a:lnSpc>
                <a:spcPct val="150000"/>
              </a:lnSpc>
              <a:spcBef>
                <a:spcPts val="1191"/>
              </a:spcBef>
              <a:spcAft>
                <a:spcPts val="992"/>
              </a:spcAft>
            </a:pPr>
            <a:endParaRPr b="0" lang="en-US" sz="1800" spc="-1" strike="noStrike">
              <a:solidFill>
                <a:srgbClr val="000000"/>
              </a:solidFill>
              <a:latin typeface="DejaVu Serif Condensed"/>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Rectangle 42"/>
          <p:cNvSpPr/>
          <p:nvPr/>
        </p:nvSpPr>
        <p:spPr>
          <a:xfrm>
            <a:off x="3102480" y="2023920"/>
            <a:ext cx="3871080" cy="16102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4400" spc="-1" strike="noStrike">
                <a:solidFill>
                  <a:srgbClr val="7030a0"/>
                </a:solidFill>
                <a:latin typeface="DejaVu Serif Condensed"/>
                <a:ea typeface="DejaVu Sans"/>
              </a:rPr>
              <a:t>THANK YOU !</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212</TotalTime>
  <Application>LibreOffice/24.2.7.2$Linux_X86_64 LibreOffice_project/420$Build-2</Application>
  <AppVersion>15.0000</AppVersion>
  <Words>472</Words>
  <Paragraphs>77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2026-02-21T13:08:00Z</dcterms:created>
  <dc:creator/>
  <dc:description/>
  <dc:language>en-US</dc:language>
  <cp:lastModifiedBy/>
  <cp:lastPrinted>2026-02-21T20:04:19Z</cp:lastPrinted>
  <dcterms:modified xsi:type="dcterms:W3CDTF">2026-04-09T23:02:01Z</dcterms:modified>
  <cp:revision>54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10</vt:i4>
  </property>
</Properties>
</file>